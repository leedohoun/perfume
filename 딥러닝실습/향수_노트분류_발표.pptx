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Baseline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D2233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노트(EfficientNet)</c:v>
                </c:pt>
                <c:pt idx="1">
                  <c:v>노트(CLIP)</c:v>
                </c:pt>
                <c:pt idx="2">
                  <c:v>브랜드(EfficientNet)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16.7</c:v>
                </c:pt>
                <c:pt idx="1">
                  <c:v>16.7</c:v>
                </c:pt>
                <c:pt idx="2">
                  <c:v>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6C-48AB-AC02-D8F37575FC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예상 최저</c:v>
                </c:pt>
              </c:strCache>
            </c:strRef>
          </c:tx>
          <c:spPr>
            <a:solidFill>
              <a:srgbClr val="7B4F6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D2233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노트(EfficientNet)</c:v>
                </c:pt>
                <c:pt idx="1">
                  <c:v>노트(CLIP)</c:v>
                </c:pt>
                <c:pt idx="2">
                  <c:v>브랜드(EfficientNet)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35</c:v>
                </c:pt>
                <c:pt idx="1">
                  <c:v>45</c:v>
                </c:pt>
                <c:pt idx="2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16C-48AB-AC02-D8F37575FC7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예상 최고</c:v>
                </c:pt>
              </c:strCache>
            </c:strRef>
          </c:tx>
          <c:spPr>
            <a:solidFill>
              <a:srgbClr val="D4A57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D2233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노트(EfficientNet)</c:v>
                </c:pt>
                <c:pt idx="1">
                  <c:v>노트(CLIP)</c:v>
                </c:pt>
                <c:pt idx="2">
                  <c:v>브랜드(EfficientNet)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50</c:v>
                </c:pt>
                <c:pt idx="1">
                  <c:v>60</c:v>
                </c:pt>
                <c:pt idx="2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16C-48AB-AC02-D8F37575FC7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D22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6350" cap="flat">
              <a:solidFill>
                <a:srgbClr val="E8E0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4E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3545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4000" dirty="0">
                <a:solidFill>
                  <a:srgbClr val="F8F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향수 이미지 기반</a:t>
            </a:r>
            <a:endParaRPr lang="en-US" sz="4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4000" dirty="0">
                <a:solidFill>
                  <a:srgbClr val="F8F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노트 분류 시스템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향수병 이미지를 활용한 딥러닝 기반 향료 노트 자동 분류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B4F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Project Proposal  | 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2D2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371600" cy="36576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087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463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219456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주제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1965960"/>
            <a:ext cx="6400800" cy="9144"/>
          </a:xfrm>
          <a:prstGeom prst="rect">
            <a:avLst/>
          </a:prstGeom>
          <a:solidFill>
            <a:srgbClr val="E0D5C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1945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219456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 소프트웨어 조사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914400" y="2651760"/>
            <a:ext cx="6400800" cy="9144"/>
          </a:xfrm>
          <a:prstGeom prst="rect">
            <a:avLst/>
          </a:prstGeom>
          <a:solidFill>
            <a:srgbClr val="E0D5C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88036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2834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2194560" y="2834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데이터셋 소개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914400" y="3337560"/>
            <a:ext cx="6400800" cy="9144"/>
          </a:xfrm>
          <a:prstGeom prst="rect">
            <a:avLst/>
          </a:prstGeom>
          <a:solidFill>
            <a:srgbClr val="E0D5C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56616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3520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2194560" y="3520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딥러닝 모델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914400" y="4023360"/>
            <a:ext cx="6400800" cy="9144"/>
          </a:xfrm>
          <a:prstGeom prst="rect">
            <a:avLst/>
          </a:prstGeom>
          <a:solidFill>
            <a:srgbClr val="E0D5C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25196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54480" y="4206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16"/>
          <p:cNvSpPr/>
          <p:nvPr/>
        </p:nvSpPr>
        <p:spPr>
          <a:xfrm>
            <a:off x="2194560" y="4206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평가 척도</a:t>
            </a:r>
            <a:endParaRPr lang="en-US" sz="1800" dirty="0"/>
          </a:p>
        </p:txBody>
      </p:sp>
      <p:sp>
        <p:nvSpPr>
          <p:cNvPr id="24" name="Shape 17"/>
          <p:cNvSpPr/>
          <p:nvPr/>
        </p:nvSpPr>
        <p:spPr>
          <a:xfrm>
            <a:off x="914400" y="4709160"/>
            <a:ext cx="6400800" cy="9144"/>
          </a:xfrm>
          <a:prstGeom prst="rect">
            <a:avLst/>
          </a:prstGeom>
          <a:solidFill>
            <a:srgbClr val="E0D5CC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D2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주제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7B4F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B4F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배경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비대면 이커머스 시장 성장에도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향수는 직접 시향 없이 구매가 어려움</a:t>
            </a:r>
            <a:endParaRPr lang="en-US" sz="13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향수병 디자인(색상, 형태, 질감)이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향의 정체성을 반영한다는 가설에 착안</a:t>
            </a:r>
            <a:endParaRPr lang="en-US" sz="13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97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시각 정보만으로 향을 유추하는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97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기술적 보조 수단 필요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7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182880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4E63"/>
                </a:solidFill>
              </a:rPr>
              <a:t>메인 태스크</a:t>
            </a:r>
            <a:endParaRPr lang="en-US" sz="11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향수병 이미지 → 노트 분류 (6개 계열)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5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Floral, Woody, Citrus, Amber/Oriental,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5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Sweet, Spicy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4E63"/>
                </a:solidFill>
              </a:rPr>
              <a:t>보조 태스크</a:t>
            </a:r>
            <a:endParaRPr lang="en-US" sz="11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향수병 이미지 → 브랜드 분류 (35개)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200" i="1" dirty="0">
                <a:solidFill>
                  <a:srgbClr val="7B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활용: 이커머스 자동분류, 맞춤 추천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시각(Vision)과 후각(Scent)의 상관관계 학습 가능성을 검증하는 탐색적 프로젝트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8F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어려운 문제인가?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2926080"/>
          </a:xfrm>
          <a:prstGeom prst="rect">
            <a:avLst/>
          </a:prstGeom>
          <a:solidFill>
            <a:srgbClr val="2D204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54864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BB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일반 이미지 분류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8F3EE"/>
                </a:solidFill>
              </a:rPr>
              <a:t>이미지 자체에 정답이 있음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</a:rPr>
              <a:t>예) 개 vs 고양이 → 시각적 특징이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</a:rPr>
              <a:t>곧 분류 기준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66BB6A"/>
                </a:solidFill>
              </a:rPr>
              <a:t>시각 ↔ 레이블 상관관계: 높음 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2926080"/>
          </a:xfrm>
          <a:prstGeom prst="rect">
            <a:avLst/>
          </a:prstGeom>
          <a:solidFill>
            <a:srgbClr val="2D204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54864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029200" y="1463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향수 노트 분류 (본 프로젝트)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8F3EE"/>
                </a:solidFill>
              </a:rPr>
              <a:t>이미지와 정답이 다른 감각 영역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</a:rPr>
              <a:t>향수병 외관 → 향(후각)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</a:rPr>
              <a:t>인간도 판단하기 어려운 과제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D4A574"/>
                </a:solidFill>
              </a:rPr>
              <a:t>시각 ↔ 레이블 상관관계: 매우 낮음 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기존 이미지 기반 향 계열 분류 연구/소프트웨어가 거의 존재하지 않음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D2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관련 소프트웨어 조사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4864" cy="658368"/>
          </a:xfrm>
          <a:prstGeom prst="rect">
            <a:avLst/>
          </a:prstGeom>
          <a:solidFill>
            <a:srgbClr val="7B4F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0515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4F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Fragrantica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51760" y="105156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향수 DB, 노트·어코드 시각화, 사용자 리뷰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9440" y="1188720"/>
            <a:ext cx="1554480" cy="365760"/>
          </a:xfrm>
          <a:prstGeom prst="rect">
            <a:avLst/>
          </a:prstGeom>
          <a:solidFill>
            <a:srgbClr val="7B4F6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플랫폼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01368"/>
            <a:ext cx="8229600" cy="658368"/>
          </a:xfrm>
          <a:prstGeom prst="rect">
            <a:avLst/>
          </a:prstGeom>
          <a:solidFill>
            <a:srgbClr val="F3EDE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7200" y="1801368"/>
            <a:ext cx="54864" cy="658368"/>
          </a:xfrm>
          <a:prstGeom prst="rect">
            <a:avLst/>
          </a:prstGeom>
          <a:solidFill>
            <a:srgbClr val="7B4F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180136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4F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Basenotes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1760" y="180136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전문가 커뮤니티 기반 향수 정보 및 리뷰 플랫폼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49440" y="1938528"/>
            <a:ext cx="1554480" cy="365760"/>
          </a:xfrm>
          <a:prstGeom prst="rect">
            <a:avLst/>
          </a:prstGeom>
          <a:solidFill>
            <a:srgbClr val="7B4F6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플랫폼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51176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57200" y="2551176"/>
            <a:ext cx="54864" cy="658368"/>
          </a:xfrm>
          <a:prstGeom prst="rect">
            <a:avLst/>
          </a:prstGeom>
          <a:solidFill>
            <a:srgbClr val="7B4F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1520" y="255117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4F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Nyckel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51760" y="255117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향수 브랜드 식별 (이미지 → 브랜드)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9440" y="2688336"/>
            <a:ext cx="1554480" cy="365760"/>
          </a:xfrm>
          <a:prstGeom prst="rect">
            <a:avLst/>
          </a:prstGeom>
          <a:solidFill>
            <a:srgbClr val="7B4F6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브랜드 식별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300984"/>
            <a:ext cx="8229600" cy="658368"/>
          </a:xfrm>
          <a:prstGeom prst="rect">
            <a:avLst/>
          </a:prstGeom>
          <a:solidFill>
            <a:srgbClr val="F3EDE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57200" y="3300984"/>
            <a:ext cx="54864" cy="658368"/>
          </a:xfrm>
          <a:prstGeom prst="rect">
            <a:avLst/>
          </a:prstGeom>
          <a:solidFill>
            <a:srgbClr val="7B4F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31520" y="330098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4F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AC'SCENT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651760" y="3300984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이미지/분위기 입력 → AI 향수 추천 서비스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9440" y="3438144"/>
            <a:ext cx="1554480" cy="365760"/>
          </a:xfrm>
          <a:prstGeom prst="rect">
            <a:avLst/>
          </a:prstGeom>
          <a:solidFill>
            <a:srgbClr val="7B4F6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추천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050792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57200" y="4050792"/>
            <a:ext cx="54864" cy="658368"/>
          </a:xfrm>
          <a:prstGeom prst="rect">
            <a:avLst/>
          </a:prstGeom>
          <a:solidFill>
            <a:srgbClr val="7B4F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31520" y="405079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4F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Accorda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651760" y="405079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 취향 기반 AI 향수 매칭 웹서비스 (국내)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49440" y="4187952"/>
            <a:ext cx="1554480" cy="365760"/>
          </a:xfrm>
          <a:prstGeom prst="rect">
            <a:avLst/>
          </a:prstGeom>
          <a:solidFill>
            <a:srgbClr val="7B4F6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추천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617720"/>
            <a:ext cx="8229600" cy="36576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7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현황: 텍스트 리뷰 기반 추천 또는 단순 브랜드 식별에 국한 → 이미지 기반 향 계열 분류는 미개척 영역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D2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데이터셋 소개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7B4F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2,067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유효 샘플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LuckyScent (Kaggle)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337560" y="11430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7B4F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337560" y="1874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노트 클래스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2194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 계열 분류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17920" y="11430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7B4F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217920" y="1874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2194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 분류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노트 분류 데이터 분포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502920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클래스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F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F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F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F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Woody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Amber/Oriental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Citrus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760720" y="2834640"/>
            <a:ext cx="31089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603504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4F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브랜드 분류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035040" y="333756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D2233"/>
                </a:solidFill>
              </a:rPr>
              <a:t>815개 샘플 (35개 브랜드)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5A4E63"/>
                </a:solidFill>
              </a:rPr>
              <a:t>Train 652 / Val 81 / Test 82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7B4F6A"/>
                </a:solidFill>
              </a:rPr>
              <a:t>분할 방식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D2233"/>
                </a:solidFill>
              </a:rPr>
              <a:t>Stratified Split (80/10/10)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D2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 확장 계획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B4F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외부 데이터 수집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1148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54864" cy="457200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Fragrantica 크롤링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1508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~3,000여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1508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이용약관 확인 필수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4114800" cy="457200"/>
          </a:xfrm>
          <a:prstGeom prst="rect">
            <a:avLst/>
          </a:prstGeom>
          <a:solidFill>
            <a:srgbClr val="F3EDE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54864" cy="457200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0080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백화점 공식 사이트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057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고해상도 확보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06040"/>
            <a:ext cx="41148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54864" cy="457200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2606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Images API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2606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브랜드당 20-50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2606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라벨 검수 필요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B4F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Augmentation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46320" y="1508760"/>
            <a:ext cx="39319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029200" y="15087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RandomHorizontalFlip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32320" y="15087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좌우 반전 학습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1920240"/>
            <a:ext cx="3931920" cy="347472"/>
          </a:xfrm>
          <a:prstGeom prst="rect">
            <a:avLst/>
          </a:prstGeom>
          <a:solidFill>
            <a:srgbClr val="F3ED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029200" y="19202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ColorJitter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0" y="1920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조명/색상 변화 대응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331720"/>
            <a:ext cx="39319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029200" y="2331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RandomRotation (±15°)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0" y="23317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회전 불변성 학습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2743200"/>
            <a:ext cx="3931920" cy="347472"/>
          </a:xfrm>
          <a:prstGeom prst="rect">
            <a:avLst/>
          </a:prstGeom>
          <a:solidFill>
            <a:srgbClr val="F3ED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029200" y="27432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RandomCrop / Resize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32320" y="27432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스케일 변화 대응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3154680"/>
            <a:ext cx="39319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029200" y="31546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MixUp / CutMix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32320" y="31546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소수 클래스 보강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3566160"/>
            <a:ext cx="3931920" cy="347472"/>
          </a:xfrm>
          <a:prstGeom prst="rect">
            <a:avLst/>
          </a:prstGeom>
          <a:solidFill>
            <a:srgbClr val="F3ED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029200" y="35661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(ImageNet)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32320" y="35661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사전학습 가중치 정규화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3749040"/>
            <a:ext cx="8229600" cy="36576"/>
          </a:xfrm>
          <a:prstGeom prst="rect">
            <a:avLst/>
          </a:prstGeom>
          <a:solidFill>
            <a:srgbClr val="E0D5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457200" y="3886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B4F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미니배치 학습 전략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57200" y="4297680"/>
            <a:ext cx="1920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57200" y="4315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4553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57200" y="4800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적절한 GPU 메모리 사용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560320" y="4297680"/>
            <a:ext cx="1920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2560320" y="4315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환경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560320" y="4553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8-16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2560320" y="4800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MobileNetV3 경량 학습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63440" y="4297680"/>
            <a:ext cx="1920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4663440" y="4315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WeightedSampler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663440" y="4553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 (2배 GPU)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663440" y="4800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불균형 보정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766560" y="4297680"/>
            <a:ext cx="1920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6766560" y="4315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Grad. Accumulation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766560" y="4553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4×8=32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766560" y="4800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 부족 시 배치 유지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D2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딥러닝 모델 선정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2011680" cy="320040"/>
          </a:xfrm>
          <a:prstGeom prst="rect">
            <a:avLst/>
          </a:prstGeom>
          <a:solidFill>
            <a:srgbClr val="7B4F6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경제성: 과도한 GPU 지양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606040" y="1005840"/>
            <a:ext cx="2011680" cy="320040"/>
          </a:xfrm>
          <a:prstGeom prst="rect">
            <a:avLst/>
          </a:prstGeom>
          <a:solidFill>
            <a:srgbClr val="7B4F6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생산성: 빠른 학습·추론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54880" y="1005840"/>
            <a:ext cx="2011680" cy="320040"/>
          </a:xfrm>
          <a:prstGeom prst="rect">
            <a:avLst/>
          </a:prstGeom>
          <a:solidFill>
            <a:srgbClr val="7B4F6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소규모 데이터: 과적합 방지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03720" y="1005840"/>
            <a:ext cx="2011680" cy="320040"/>
          </a:xfrm>
          <a:prstGeom prst="rect">
            <a:avLst/>
          </a:prstGeom>
          <a:solidFill>
            <a:srgbClr val="7B4F6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전이학습: ImageNet 활용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2606040" cy="54864"/>
          </a:xfrm>
          <a:prstGeom prst="rect">
            <a:avLst/>
          </a:prstGeom>
          <a:solidFill>
            <a:srgbClr val="7B4F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1520" y="1691640"/>
            <a:ext cx="1371600" cy="274320"/>
          </a:xfrm>
          <a:prstGeom prst="rect">
            <a:avLst/>
          </a:prstGeom>
          <a:solidFill>
            <a:srgbClr val="7B4F6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모델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EfficientNet-B0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25603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4E63"/>
                </a:solidFill>
              </a:rPr>
              <a:t>파라미터  </a:t>
            </a:r>
            <a:r>
              <a:rPr lang="en-US" sz="1300" b="1" dirty="0">
                <a:solidFill>
                  <a:srgbClr val="7B4F6A"/>
                </a:solidFill>
              </a:rPr>
              <a:t>5.3M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4E63"/>
                </a:solidFill>
              </a:rPr>
              <a:t>ImageNet Top-1  </a:t>
            </a:r>
            <a:r>
              <a:rPr lang="en-US" sz="1300" b="1" dirty="0">
                <a:solidFill>
                  <a:srgbClr val="7B4F6A"/>
                </a:solidFill>
              </a:rPr>
              <a:t>77.1%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4E63"/>
                </a:solidFill>
              </a:rPr>
              <a:t>적용  </a:t>
            </a:r>
            <a:r>
              <a:rPr lang="en-US" sz="1200" b="1" dirty="0">
                <a:solidFill>
                  <a:srgbClr val="2D2233"/>
                </a:solidFill>
              </a:rPr>
              <a:t>Note / Brand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2240280" cy="18288"/>
          </a:xfrm>
          <a:prstGeom prst="rect">
            <a:avLst/>
          </a:prstGeom>
          <a:solidFill>
            <a:srgbClr val="E0D5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소규모 데이터에서 과적합 위험 낮고 성능 대비 효율 최고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155448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337560" y="1554480"/>
            <a:ext cx="2606040" cy="54864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611880" y="1691640"/>
            <a:ext cx="1371600" cy="274320"/>
          </a:xfrm>
          <a:prstGeom prst="rect">
            <a:avLst/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경량 대안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2044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MobileNetV3-Large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20440" y="25603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4E63"/>
                </a:solidFill>
              </a:rPr>
              <a:t>파라미터  </a:t>
            </a:r>
            <a:r>
              <a:rPr lang="en-US" sz="1300" b="1" dirty="0">
                <a:solidFill>
                  <a:srgbClr val="7B4F6A"/>
                </a:solidFill>
              </a:rPr>
              <a:t>5.4M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4E63"/>
                </a:solidFill>
              </a:rPr>
              <a:t>ImageNet Top-1  </a:t>
            </a:r>
            <a:r>
              <a:rPr lang="en-US" sz="1300" b="1" dirty="0">
                <a:solidFill>
                  <a:srgbClr val="7B4F6A"/>
                </a:solidFill>
              </a:rPr>
              <a:t>75.3%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4E63"/>
                </a:solidFill>
              </a:rPr>
              <a:t>적용  </a:t>
            </a:r>
            <a:r>
              <a:rPr lang="en-US" sz="1200" b="1" dirty="0">
                <a:solidFill>
                  <a:srgbClr val="2D2233"/>
                </a:solidFill>
              </a:rPr>
              <a:t>Note / Brand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20440" y="3749040"/>
            <a:ext cx="2240280" cy="18288"/>
          </a:xfrm>
          <a:prstGeom prst="rect">
            <a:avLst/>
          </a:prstGeom>
          <a:solidFill>
            <a:srgbClr val="E0D5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520440" y="3840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없이도 빠른 학습 가능, 경제적 대안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155448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217920" y="1554480"/>
            <a:ext cx="2606040" cy="54864"/>
          </a:xfrm>
          <a:prstGeom prst="rect">
            <a:avLst/>
          </a:prstGeom>
          <a:solidFill>
            <a:srgbClr val="C97B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492240" y="1691640"/>
            <a:ext cx="1371600" cy="274320"/>
          </a:xfrm>
          <a:prstGeom prst="rect">
            <a:avLst/>
          </a:prstGeom>
          <a:solidFill>
            <a:srgbClr val="C97B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시각-텍스트 보완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CLIP (ViT-B/32)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0" y="25603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4E63"/>
                </a:solidFill>
              </a:rPr>
              <a:t>파라미터  </a:t>
            </a:r>
            <a:r>
              <a:rPr lang="en-US" sz="1300" b="1" dirty="0">
                <a:solidFill>
                  <a:srgbClr val="7B4F6A"/>
                </a:solidFill>
              </a:rPr>
              <a:t>151M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4E63"/>
                </a:solidFill>
              </a:rPr>
              <a:t>ImageNet Top-1  </a:t>
            </a:r>
            <a:r>
              <a:rPr lang="en-US" sz="1300" b="1" dirty="0">
                <a:solidFill>
                  <a:srgbClr val="7B4F6A"/>
                </a:solidFill>
              </a:rPr>
              <a:t>-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4E63"/>
                </a:solidFill>
              </a:rPr>
              <a:t>적용  </a:t>
            </a:r>
            <a:r>
              <a:rPr lang="en-US" sz="1200" b="1" dirty="0">
                <a:solidFill>
                  <a:srgbClr val="2D2233"/>
                </a:solidFill>
              </a:rPr>
              <a:t>Note (특별)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3749040"/>
            <a:ext cx="2240280" cy="18288"/>
          </a:xfrm>
          <a:prstGeom prst="rect">
            <a:avLst/>
          </a:prstGeom>
          <a:solidFill>
            <a:srgbClr val="E0D5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400800" y="3840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프롬프트로 시각-향 관계 보완, Zero-shot 비교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8F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2단계 Fine-tuning 전략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2011680"/>
          </a:xfrm>
          <a:prstGeom prst="rect">
            <a:avLst/>
          </a:prstGeom>
          <a:solidFill>
            <a:srgbClr val="2D204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54864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Stage 1 — Head Only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epoch</a:t>
            </a:r>
            <a:endParaRPr lang="en-US" sz="24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2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8F3EE"/>
                </a:solidFill>
              </a:rPr>
              <a:t>Backbone Freeze</a:t>
            </a:r>
            <a:endParaRPr lang="en-US" sz="2400" dirty="0"/>
          </a:p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</a:rPr>
              <a:t>분류 Head만 학습</a:t>
            </a:r>
            <a:endParaRPr lang="en-US" sz="2400" dirty="0"/>
          </a:p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</a:rPr>
              <a:t>lr = 1e-3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14800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D4A574"/>
                </a:solidFill>
              </a:rPr>
              <a:t>→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2011680"/>
          </a:xfrm>
          <a:prstGeom prst="rect">
            <a:avLst/>
          </a:prstGeom>
          <a:solidFill>
            <a:srgbClr val="2D204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931920" cy="54864"/>
          </a:xfrm>
          <a:prstGeom prst="rect">
            <a:avLst/>
          </a:prstGeom>
          <a:solidFill>
            <a:srgbClr val="7B4F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CAA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Stage 2 — Full Fine-tuning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87452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CCAA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 epoch</a:t>
            </a:r>
            <a:endParaRPr lang="en-US" sz="24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2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8F3EE"/>
                </a:solidFill>
              </a:rPr>
              <a:t>점진적 Unfreeze</a:t>
            </a:r>
            <a:endParaRPr lang="en-US" sz="2400" dirty="0"/>
          </a:p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</a:rPr>
              <a:t>마지막 블록부터 전체 학습</a:t>
            </a:r>
            <a:endParaRPr lang="en-US" sz="2400" dirty="0"/>
          </a:p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</a:rPr>
              <a:t>lr = 1e-4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보조 기법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1965960" cy="822960"/>
          </a:xfrm>
          <a:prstGeom prst="rect">
            <a:avLst/>
          </a:prstGeom>
          <a:solidFill>
            <a:srgbClr val="2D204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4069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WeightedRandomSampler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불균형 보정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06040" y="4023360"/>
            <a:ext cx="1965960" cy="822960"/>
          </a:xfrm>
          <a:prstGeom prst="rect">
            <a:avLst/>
          </a:prstGeom>
          <a:solidFill>
            <a:srgbClr val="2D204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697480" y="4069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97480" y="4434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Flip, ColorJitter 등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4023360"/>
            <a:ext cx="1965960" cy="822960"/>
          </a:xfrm>
          <a:prstGeom prst="rect">
            <a:avLst/>
          </a:prstGeom>
          <a:solidFill>
            <a:srgbClr val="2D204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846320" y="4069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CosineAnnealingLR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4434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학습률 스케줄링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03720" y="4023360"/>
            <a:ext cx="1965960" cy="822960"/>
          </a:xfrm>
          <a:prstGeom prst="rect">
            <a:avLst/>
          </a:prstGeom>
          <a:solidFill>
            <a:srgbClr val="2D204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995160" y="4069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95160" y="4434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과적합 방지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D2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성능 평가 척도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4864" cy="1280160"/>
          </a:xfrm>
          <a:prstGeom prst="rect">
            <a:avLst/>
          </a:prstGeom>
          <a:solidFill>
            <a:srgbClr val="7B4F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B4F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Accuracy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정분류 비율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전반적 성능 파악의 기본 지표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54864" cy="1280160"/>
          </a:xfrm>
          <a:prstGeom prst="rect">
            <a:avLst/>
          </a:prstGeom>
          <a:solidFill>
            <a:srgbClr val="7B4F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9834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B4F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Macro F1-Score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8348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클래스별 F1 단순 평균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불균형에서 공정한 평가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54864" cy="1280160"/>
          </a:xfrm>
          <a:prstGeom prst="rect">
            <a:avLst/>
          </a:prstGeom>
          <a:solidFill>
            <a:srgbClr val="7B4F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85800" y="2743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B4F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Confusion Matrix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3108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오분류 패턴 시각화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429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계열이 혼동되는지 분석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65176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754880" y="2651760"/>
            <a:ext cx="54864" cy="1280160"/>
          </a:xfrm>
          <a:prstGeom prst="rect">
            <a:avLst/>
          </a:prstGeom>
          <a:solidFill>
            <a:srgbClr val="7B4F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983480" y="2743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B4F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Top-3 Accuracy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83480" y="3108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3개 예측 내 정답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3429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시각-향 상관관계 낮은 특성 반영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343400"/>
            <a:ext cx="8229600" cy="640080"/>
          </a:xfrm>
          <a:prstGeom prst="rect">
            <a:avLst/>
          </a:prstGeom>
          <a:solidFill>
            <a:srgbClr val="7B4F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57200" y="4343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목표: 절대적 정확도보다 Random Baseline 대비 유의미한 학습 가능성 검증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D2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예상 성능 범위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05840"/>
          <a:ext cx="8229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모델이 텍스트 프롬프트를 통해 시각-향 관계를 보완할 수 있어 가장 높은 성능이 기대됨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8F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요약 및 기대 효과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7863840" cy="640080"/>
          </a:xfrm>
          <a:prstGeom prst="rect">
            <a:avLst/>
          </a:prstGeom>
          <a:solidFill>
            <a:srgbClr val="2D204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4864" cy="640080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탐색적 과제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12344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시각(병 디자인) → 후각(향 노트) 상관관계 학습 가능성 최초 검증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7863840" cy="640080"/>
          </a:xfrm>
          <a:prstGeom prst="rect">
            <a:avLst/>
          </a:prstGeom>
          <a:solidFill>
            <a:srgbClr val="2D204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54864" cy="640080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효율적 설계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20116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+ 2단계 Fine-tuning으로 소규모 데이터 대응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7863840" cy="640080"/>
          </a:xfrm>
          <a:prstGeom prst="rect">
            <a:avLst/>
          </a:prstGeom>
          <a:solidFill>
            <a:srgbClr val="2D204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40080" y="2788920"/>
            <a:ext cx="54864" cy="640080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14400" y="2788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다각적 평가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27889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Macro F1, Confusion Matrix, Top-3 Accuracy 종합 분석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7863840" cy="640080"/>
          </a:xfrm>
          <a:prstGeom prst="rect">
            <a:avLst/>
          </a:prstGeom>
          <a:solidFill>
            <a:srgbClr val="2D204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0080" y="3566160"/>
            <a:ext cx="54864" cy="640080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14400" y="3566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확장 가능성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26080" y="35661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이커머스 자동분류, 맞춤 추천, 브랜드 분석 등 실용적 활용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D4A5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 &amp; A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805</Words>
  <Application>Microsoft Office PowerPoint</Application>
  <PresentationFormat>화면 슬라이드 쇼(16:9)</PresentationFormat>
  <Paragraphs>249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향수 이미지 기반 노트 분류 시스템</dc:title>
  <dc:subject>PptxGenJS Presentation</dc:subject>
  <dc:creator>hoon</dc:creator>
  <cp:lastModifiedBy>이도훈</cp:lastModifiedBy>
  <cp:revision>1</cp:revision>
  <dcterms:created xsi:type="dcterms:W3CDTF">2026-04-10T01:07:04Z</dcterms:created>
  <dcterms:modified xsi:type="dcterms:W3CDTF">2026-04-10T01:16:51Z</dcterms:modified>
</cp:coreProperties>
</file>